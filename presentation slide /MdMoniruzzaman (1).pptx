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55"/>
  </p:notesMasterIdLst>
  <p:handoutMasterIdLst>
    <p:handoutMasterId r:id="rId56"/>
  </p:handoutMasterIdLst>
  <p:sldIdLst>
    <p:sldId id="256" r:id="rId2"/>
    <p:sldId id="258" r:id="rId3"/>
    <p:sldId id="340" r:id="rId4"/>
    <p:sldId id="257" r:id="rId5"/>
    <p:sldId id="329" r:id="rId6"/>
    <p:sldId id="341" r:id="rId7"/>
    <p:sldId id="357" r:id="rId8"/>
    <p:sldId id="344" r:id="rId9"/>
    <p:sldId id="347" r:id="rId10"/>
    <p:sldId id="348" r:id="rId11"/>
    <p:sldId id="353" r:id="rId12"/>
    <p:sldId id="349" r:id="rId13"/>
    <p:sldId id="350" r:id="rId14"/>
    <p:sldId id="399" r:id="rId15"/>
    <p:sldId id="351" r:id="rId16"/>
    <p:sldId id="400" r:id="rId17"/>
    <p:sldId id="356" r:id="rId18"/>
    <p:sldId id="359" r:id="rId19"/>
    <p:sldId id="361" r:id="rId20"/>
    <p:sldId id="371" r:id="rId21"/>
    <p:sldId id="365" r:id="rId22"/>
    <p:sldId id="366" r:id="rId23"/>
    <p:sldId id="368" r:id="rId24"/>
    <p:sldId id="369" r:id="rId25"/>
    <p:sldId id="370" r:id="rId26"/>
    <p:sldId id="372" r:id="rId27"/>
    <p:sldId id="401" r:id="rId28"/>
    <p:sldId id="374" r:id="rId29"/>
    <p:sldId id="375" r:id="rId30"/>
    <p:sldId id="376" r:id="rId31"/>
    <p:sldId id="402" r:id="rId32"/>
    <p:sldId id="377" r:id="rId33"/>
    <p:sldId id="378" r:id="rId34"/>
    <p:sldId id="379" r:id="rId35"/>
    <p:sldId id="403" r:id="rId36"/>
    <p:sldId id="380" r:id="rId37"/>
    <p:sldId id="381" r:id="rId38"/>
    <p:sldId id="382" r:id="rId39"/>
    <p:sldId id="383" r:id="rId40"/>
    <p:sldId id="384" r:id="rId41"/>
    <p:sldId id="386" r:id="rId42"/>
    <p:sldId id="387" r:id="rId43"/>
    <p:sldId id="388" r:id="rId44"/>
    <p:sldId id="390" r:id="rId45"/>
    <p:sldId id="391" r:id="rId46"/>
    <p:sldId id="392" r:id="rId47"/>
    <p:sldId id="393" r:id="rId48"/>
    <p:sldId id="394" r:id="rId49"/>
    <p:sldId id="395" r:id="rId50"/>
    <p:sldId id="396" r:id="rId51"/>
    <p:sldId id="397" r:id="rId52"/>
    <p:sldId id="398" r:id="rId53"/>
    <p:sldId id="322" r:id="rId54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57"/>
    </p:embeddedFont>
    <p:embeddedFont>
      <p:font typeface="Arial Narrow" panose="020B0606020202030204" pitchFamily="34" charset="0"/>
      <p:regular r:id="rId58"/>
      <p:bold r:id="rId59"/>
      <p:italic r:id="rId60"/>
      <p:boldItalic r:id="rId61"/>
    </p:embeddedFont>
    <p:embeddedFont>
      <p:font typeface="Cambria Math" panose="02040503050406030204" pitchFamily="18" charset="0"/>
      <p:regular r:id="rId62"/>
    </p:embeddedFont>
    <p:embeddedFont>
      <p:font typeface="Figtree Black" panose="020B0604020202020204" charset="0"/>
      <p:bold r:id="rId63"/>
      <p:boldItalic r:id="rId64"/>
    </p:embeddedFont>
    <p:embeddedFont>
      <p:font typeface="Hanken Grotesk" panose="020B0604020202020204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57EE58CD-C319-4207-8619-8E54447D1C72}">
          <p14:sldIdLst>
            <p14:sldId id="256"/>
            <p14:sldId id="258"/>
            <p14:sldId id="340"/>
            <p14:sldId id="257"/>
            <p14:sldId id="329"/>
            <p14:sldId id="341"/>
            <p14:sldId id="357"/>
            <p14:sldId id="344"/>
            <p14:sldId id="347"/>
            <p14:sldId id="348"/>
            <p14:sldId id="353"/>
            <p14:sldId id="349"/>
            <p14:sldId id="350"/>
            <p14:sldId id="399"/>
            <p14:sldId id="351"/>
            <p14:sldId id="400"/>
            <p14:sldId id="356"/>
            <p14:sldId id="359"/>
            <p14:sldId id="361"/>
            <p14:sldId id="371"/>
            <p14:sldId id="365"/>
            <p14:sldId id="366"/>
            <p14:sldId id="368"/>
            <p14:sldId id="369"/>
            <p14:sldId id="370"/>
            <p14:sldId id="372"/>
            <p14:sldId id="401"/>
            <p14:sldId id="374"/>
            <p14:sldId id="375"/>
            <p14:sldId id="376"/>
            <p14:sldId id="402"/>
            <p14:sldId id="377"/>
            <p14:sldId id="378"/>
            <p14:sldId id="379"/>
            <p14:sldId id="403"/>
            <p14:sldId id="380"/>
            <p14:sldId id="381"/>
            <p14:sldId id="382"/>
            <p14:sldId id="383"/>
            <p14:sldId id="384"/>
            <p14:sldId id="386"/>
            <p14:sldId id="387"/>
            <p14:sldId id="388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8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D2490D-5C05-42BE-8C55-A3A80E69C988}">
  <a:tblStyle styleId="{E8D2490D-5C05-42BE-8C55-A3A80E69C9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1" autoAdjust="0"/>
  </p:normalViewPr>
  <p:slideViewPr>
    <p:cSldViewPr snapToGrid="0">
      <p:cViewPr varScale="1">
        <p:scale>
          <a:sx n="85" d="100"/>
          <a:sy n="85" d="100"/>
        </p:scale>
        <p:origin x="60" y="-3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61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64" Type="http://schemas.openxmlformats.org/officeDocument/2006/relationships/font" Target="fonts/font8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4C781A-CB72-44A1-E6EB-09DE77857A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E803B-1D22-717C-1691-29EE4079EB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988A2-84DB-4B49-9F48-6052054DDD1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A7E30-DBDF-D1D2-5571-B2F79352DA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375CB-5363-FCE1-EB51-5677723B02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C72CF-EFFC-4DBB-855D-F52A8EA8E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406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5661B2D4-DD54-947C-9E3E-8D03E7BE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>
            <a:extLst>
              <a:ext uri="{FF2B5EF4-FFF2-40B4-BE49-F238E27FC236}">
                <a16:creationId xmlns:a16="http://schemas.microsoft.com/office/drawing/2014/main" id="{670CAD26-5A76-5A04-5330-283C02C2E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>
            <a:extLst>
              <a:ext uri="{FF2B5EF4-FFF2-40B4-BE49-F238E27FC236}">
                <a16:creationId xmlns:a16="http://schemas.microsoft.com/office/drawing/2014/main" id="{CFF0B69A-F48C-8356-D89B-D123F181C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348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1E40F02F-D1C3-53FD-84AE-6C13DD03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ACBA35B3-AB81-96B1-5F68-EE96B5109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CD356DB0-EE06-1721-0A37-9D5037095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690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DCF2F0D9-3051-01A1-997B-5A124581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BBC51C1D-F48D-8479-93FF-16205EB16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C9C47F98-A3CA-37E6-264A-5E473E576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6843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BCCE7DD5-8582-7190-3797-41D9F955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F55AB1B8-F667-FA0E-73AB-94681E995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2DCD879A-2966-00CF-20E7-B9A2A4DE2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428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773365E0-34A7-0BAE-BB71-9791B826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08FD8316-FDA9-E4DE-AE33-7E3CCB299A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D2D43644-A182-D218-81F6-FAB8737D4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067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C8092405-8E18-0389-A9FB-1C325D69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27164258-903F-F354-F863-4FD93D523C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4BEC2D90-69A7-FCBA-0BB8-9AE30C3F0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6531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855E51AA-3F05-2899-884F-8AF8CBA7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B55ABC4B-BC4E-0746-FC75-93935ACB7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9478F7C0-9CE6-5062-E224-E8FF2A043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1402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B56D8508-28D5-C67F-7727-6032F1B7A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3ECBB515-0508-200E-B2BC-501A498AE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EA286ABA-CE5D-54FF-FC70-E0C111CA5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29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39D009BD-A4E9-F28F-03BC-378946C8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F6C22F05-0D37-0727-85FF-B3232CD51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39A9BF1A-582B-46C3-2516-7C4C0DA72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1063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CCADB383-C1B7-4404-8473-B1BC9473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7D230465-A87F-AE23-E250-09A560625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99805DC5-834F-A442-C0F0-80D39E598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8181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856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044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5" name="Google Shape;85;p11"/>
          <p:cNvSpPr txBox="1">
            <a:spLocks noGrp="1"/>
          </p:cNvSpPr>
          <p:nvPr>
            <p:ph type="title" hasCustomPrompt="1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5" r:id="rId4"/>
    <p:sldLayoutId id="2147483657" r:id="rId5"/>
    <p:sldLayoutId id="2147483658" r:id="rId6"/>
    <p:sldLayoutId id="2147483659" r:id="rId7"/>
    <p:sldLayoutId id="2147483674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title"/>
          </p:nvPr>
        </p:nvSpPr>
        <p:spPr>
          <a:xfrm>
            <a:off x="491164" y="1094305"/>
            <a:ext cx="8161672" cy="7907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spcBef>
                <a:spcPts val="125"/>
              </a:spcBef>
              <a:spcAft>
                <a:spcPts val="125"/>
              </a:spcAft>
            </a:pP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Auraluxe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Single Vendor E</a:t>
            </a:r>
            <a:br>
              <a:rPr lang="en-US" sz="18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commerce Application for Luxury Building Materials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AD5DCE-8EFC-5D5C-3E6E-D42F1B5F2B26}"/>
              </a:ext>
            </a:extLst>
          </p:cNvPr>
          <p:cNvGrpSpPr/>
          <p:nvPr/>
        </p:nvGrpSpPr>
        <p:grpSpPr>
          <a:xfrm>
            <a:off x="319009" y="307298"/>
            <a:ext cx="8505981" cy="869430"/>
            <a:chOff x="76200" y="152400"/>
            <a:chExt cx="8915400" cy="838200"/>
          </a:xfrm>
        </p:grpSpPr>
        <p:sp>
          <p:nvSpPr>
            <p:cNvPr id="19" name="WordArt 5">
              <a:extLst>
                <a:ext uri="{FF2B5EF4-FFF2-40B4-BE49-F238E27FC236}">
                  <a16:creationId xmlns:a16="http://schemas.microsoft.com/office/drawing/2014/main" id="{4ECEB3B2-5BA8-0E4A-6767-13D4D61C53D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744583" y="321276"/>
              <a:ext cx="7683137" cy="26778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200" b="1" kern="10" spc="240" dirty="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Arial Narrow"/>
                </a:rPr>
                <a:t>IUBAT–INTERNATIONAL </a:t>
              </a:r>
              <a:r>
                <a:rPr lang="en-US" sz="1200" b="1" kern="10" spc="240" dirty="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effectLst/>
                  <a:latin typeface="Arial Narrow"/>
                </a:rPr>
                <a:t>UNIVERSITY OF BUSINESS AGRICULTURE AND TECHNOLOGY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7FD986C-8F8C-C51D-23C5-9C4D3D427A8A}"/>
                </a:ext>
              </a:extLst>
            </p:cNvPr>
            <p:cNvSpPr/>
            <p:nvPr/>
          </p:nvSpPr>
          <p:spPr>
            <a:xfrm>
              <a:off x="3124200" y="713601"/>
              <a:ext cx="296337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i="1" dirty="0">
                  <a:solidFill>
                    <a:srgbClr val="008000"/>
                  </a:solidFill>
                  <a:latin typeface="Arial" pitchFamily="34" charset="0"/>
                  <a:ea typeface="Times New Roman" pitchFamily="18" charset="0"/>
                  <a:cs typeface="Times New Roman" pitchFamily="18" charset="0"/>
                </a:rPr>
                <a:t>Founded 1991 by Md. Alimullah Miyan</a:t>
              </a:r>
              <a:endParaRPr lang="en-US" sz="11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1" name="Picture 4">
              <a:extLst>
                <a:ext uri="{FF2B5EF4-FFF2-40B4-BE49-F238E27FC236}">
                  <a16:creationId xmlns:a16="http://schemas.microsoft.com/office/drawing/2014/main" id="{9CF70D78-5829-6165-9254-2910089E2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200" y="152400"/>
              <a:ext cx="609600" cy="5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606A6CB8-D458-B1B4-B130-A4576AE44C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507921" y="198120"/>
              <a:ext cx="483679" cy="5065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FCF44A16-4DA1-3779-5557-EDB625FA178E}"/>
              </a:ext>
            </a:extLst>
          </p:cNvPr>
          <p:cNvSpPr/>
          <p:nvPr/>
        </p:nvSpPr>
        <p:spPr>
          <a:xfrm>
            <a:off x="3705372" y="1851326"/>
            <a:ext cx="183295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u="sng" dirty="0">
                <a:latin typeface="Times New Roman" panose="02020603050405020304" pitchFamily="18" charset="0"/>
                <a:cs typeface="Times New Roman" pitchFamily="18" charset="0"/>
              </a:rPr>
              <a:t>Practicum Defense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628D17-8C68-E360-A86C-C84F20FF9295}"/>
              </a:ext>
            </a:extLst>
          </p:cNvPr>
          <p:cNvSpPr/>
          <p:nvPr/>
        </p:nvSpPr>
        <p:spPr>
          <a:xfrm>
            <a:off x="491164" y="3736207"/>
            <a:ext cx="201369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anose="02020603050405020304" pitchFamily="18" charset="0"/>
                <a:cs typeface="Times New Roman" pitchFamily="18" charset="0"/>
              </a:rPr>
              <a:t>Prepared by:</a:t>
            </a: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Md.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Moniruzzaman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ID: 22103018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69A21D-15BC-56E5-0F08-CFC992D5CE5E}"/>
              </a:ext>
            </a:extLst>
          </p:cNvPr>
          <p:cNvSpPr/>
          <p:nvPr/>
        </p:nvSpPr>
        <p:spPr>
          <a:xfrm>
            <a:off x="3601636" y="4094072"/>
            <a:ext cx="16514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itchFamily="18" charset="0"/>
              </a:rPr>
              <a:t>Date: 25/01/2025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AFF655-D06A-351A-FE01-7EA4D876A1FD}"/>
              </a:ext>
            </a:extLst>
          </p:cNvPr>
          <p:cNvSpPr/>
          <p:nvPr/>
        </p:nvSpPr>
        <p:spPr>
          <a:xfrm>
            <a:off x="6349830" y="3736207"/>
            <a:ext cx="201369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anose="02020603050405020304" pitchFamily="18" charset="0"/>
                <a:cs typeface="Times New Roman" pitchFamily="18" charset="0"/>
              </a:rPr>
              <a:t>Supervised by:</a:t>
            </a:r>
          </a:p>
          <a:p>
            <a:pPr algn="ctr">
              <a:spcAft>
                <a:spcPts val="600"/>
              </a:spcAft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Dipta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Mohon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Das</a:t>
            </a: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Lecturer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4537883-E60E-33E7-D728-9FE0435C7B3C}"/>
              </a:ext>
            </a:extLst>
          </p:cNvPr>
          <p:cNvGrpSpPr/>
          <p:nvPr/>
        </p:nvGrpSpPr>
        <p:grpSpPr>
          <a:xfrm>
            <a:off x="2221551" y="2135681"/>
            <a:ext cx="4800600" cy="1121927"/>
            <a:chOff x="2221552" y="2293464"/>
            <a:chExt cx="4800600" cy="1121927"/>
          </a:xfrm>
        </p:grpSpPr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FF1981AF-9221-EDD0-BB61-CFFCCDD2ABDD}"/>
                </a:ext>
              </a:extLst>
            </p:cNvPr>
            <p:cNvSpPr txBox="1">
              <a:spLocks/>
            </p:cNvSpPr>
            <p:nvPr/>
          </p:nvSpPr>
          <p:spPr>
            <a:xfrm>
              <a:off x="2221552" y="2293464"/>
              <a:ext cx="4800600" cy="1121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rmAutofit fontScale="97500" lnSpcReduction="1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Figtree Black"/>
                <a:buNone/>
                <a:defRPr sz="28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 Black"/>
                <a:buNone/>
                <a:defRPr sz="30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 Black"/>
                <a:buNone/>
                <a:defRPr sz="30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 Black"/>
                <a:buNone/>
                <a:defRPr sz="30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 Black"/>
                <a:buNone/>
                <a:defRPr sz="30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 Black"/>
                <a:buNone/>
                <a:defRPr sz="30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 Black"/>
                <a:buNone/>
                <a:defRPr sz="30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 Black"/>
                <a:buNone/>
                <a:defRPr sz="30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Figtree Black"/>
                <a:buNone/>
                <a:defRPr sz="3000" b="0" i="0" u="none" strike="noStrike" cap="none">
                  <a:solidFill>
                    <a:schemeClr val="dk1"/>
                  </a:solidFill>
                  <a:latin typeface="Figtree Black"/>
                  <a:ea typeface="Figtree Black"/>
                  <a:cs typeface="Figtree Black"/>
                  <a:sym typeface="Figtree Black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itchFamily="18" charset="0"/>
                </a:rPr>
                <a:t>Prepared for: </a:t>
              </a:r>
              <a:b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itchFamily="18" charset="0"/>
                </a:rPr>
              </a:br>
              <a:r>
                <a:rPr lang="en-US" sz="1400" b="1" dirty="0">
                  <a:latin typeface="Times New Roman" panose="02020603050405020304" pitchFamily="18" charset="0"/>
                  <a:cs typeface="Times New Roman" pitchFamily="18" charset="0"/>
                </a:rPr>
                <a:t>Practicum Defense Committee  </a:t>
              </a:r>
              <a:br>
                <a:rPr lang="en-US" sz="1400" b="1" dirty="0">
                  <a:latin typeface="Times New Roman" panose="02020603050405020304" pitchFamily="18" charset="0"/>
                  <a:cs typeface="Times New Roman" pitchFamily="18" charset="0"/>
                </a:rPr>
              </a:br>
              <a:r>
                <a:rPr lang="en-US" sz="1400" b="1" dirty="0">
                  <a:latin typeface="Times New Roman" panose="02020603050405020304" pitchFamily="18" charset="0"/>
                  <a:cs typeface="Times New Roman" pitchFamily="18" charset="0"/>
                </a:rPr>
                <a:t>Department of  Computer Science and Engineering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Picture 28" descr="Logo">
              <a:extLst>
                <a:ext uri="{FF2B5EF4-FFF2-40B4-BE49-F238E27FC236}">
                  <a16:creationId xmlns:a16="http://schemas.microsoft.com/office/drawing/2014/main" id="{FC265543-5952-FD37-B1C4-A6614E01F2E9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8465" y="3058268"/>
              <a:ext cx="262327" cy="255127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663200" y="445024"/>
            <a:ext cx="7704000" cy="5637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15F069-8162-A6B0-8DB8-63D24A27791C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9" name="Google Shape;296;p34">
            <a:extLst>
              <a:ext uri="{FF2B5EF4-FFF2-40B4-BE49-F238E27FC236}">
                <a16:creationId xmlns:a16="http://schemas.microsoft.com/office/drawing/2014/main" id="{6855851F-407B-8CA5-9140-9FE99577D989}"/>
              </a:ext>
            </a:extLst>
          </p:cNvPr>
          <p:cNvSpPr txBox="1">
            <a:spLocks/>
          </p:cNvSpPr>
          <p:nvPr/>
        </p:nvSpPr>
        <p:spPr>
          <a:xfrm>
            <a:off x="719999" y="1036799"/>
            <a:ext cx="7704000" cy="352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Overview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this Project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Model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Engineering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Analysis Pattern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Swim-lane Diagrams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32DC9162-7885-B714-D2A7-8E3E3A1D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2A32FD80-B994-D5EB-A063-037DCE41E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3200" y="445024"/>
            <a:ext cx="7704000" cy="5637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 (Cont.)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921C7B-C149-A141-92A1-FC948B75B386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9" name="Google Shape;296;p34">
            <a:extLst>
              <a:ext uri="{FF2B5EF4-FFF2-40B4-BE49-F238E27FC236}">
                <a16:creationId xmlns:a16="http://schemas.microsoft.com/office/drawing/2014/main" id="{A01A0CA3-7DDA-1E8C-78A5-966D53603C01}"/>
              </a:ext>
            </a:extLst>
          </p:cNvPr>
          <p:cNvSpPr txBox="1">
            <a:spLocks/>
          </p:cNvSpPr>
          <p:nvPr/>
        </p:nvSpPr>
        <p:spPr>
          <a:xfrm>
            <a:off x="719999" y="1036799"/>
            <a:ext cx="7704000" cy="35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 Analysis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Quality Assurance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The Project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1560227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19999" y="29598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Overview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719999" y="868680"/>
            <a:ext cx="7704000" cy="3825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 Limited (Advanced Technology &amp; Innovation)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and e-commerce technology company.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Software Development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 Development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&amp; Mobile Application Development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a recognized technology provider supporting business growth through reliable and innovative software solutions.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Delivering tailored software solutions and developing new talent through mentorship.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Role: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Jr. Frontend Developer.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A2D3B5-568D-CE68-3D91-5BC0A2AAEE44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C5931BDF-AF14-14B8-16A2-3390955E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C4B038F7-9EF0-B021-2CE2-2E904809A9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37067" y="801511"/>
            <a:ext cx="8580197" cy="4064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showroom-based sales limit customer reach.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detailed product information online.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product discovery process.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-  "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Auraluxe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: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single-vendor e-commerce platform for premium imported building materials and interior solutions with: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product catalogs with specifications and pricing.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portfolio showcase for inspiration.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ordering and payment.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Next.js, TypeScript,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PostgreSQL, Prisma ORM,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5247CD-C2AE-21F4-E282-660635A34367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69DD90-7AC4-E791-F261-4FE88A2B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72453"/>
            <a:ext cx="7704000" cy="5727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</p:spTree>
    <p:extLst>
      <p:ext uri="{BB962C8B-B14F-4D97-AF65-F5344CB8AC3E}">
        <p14:creationId xmlns:p14="http://schemas.microsoft.com/office/powerpoint/2010/main" val="269054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F8CB372E-3B70-A718-3FE8-24A885FF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9FCDDF4B-78BF-AC94-CEA2-5A9F5F5C277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5779" y="846668"/>
            <a:ext cx="8681154" cy="40189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Objective: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scalable, secure e-commerce platform for premium building materials with seamless product management and online transactions.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Clean Architecture using Next.js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maintainability.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comprehensive CRUD operations for products, categories, and brands.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Experience: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intuitive product browsing, filtering, and cart management system.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Integration: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online transactions.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admin dashboard for managing products, orders, and project portfolios.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privacy with Role-Based Access Control (RBAC) and secure authentication.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15F34B-7A5E-6F79-B113-5242744CB85B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B5B934-63F4-63D0-032B-3CA2B9C2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70025"/>
            <a:ext cx="7704000" cy="56244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this Project</a:t>
            </a:r>
          </a:p>
        </p:txBody>
      </p:sp>
    </p:spTree>
    <p:extLst>
      <p:ext uri="{BB962C8B-B14F-4D97-AF65-F5344CB8AC3E}">
        <p14:creationId xmlns:p14="http://schemas.microsoft.com/office/powerpoint/2010/main" val="314790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96;p34">
            <a:extLst>
              <a:ext uri="{FF2B5EF4-FFF2-40B4-BE49-F238E27FC236}">
                <a16:creationId xmlns:a16="http://schemas.microsoft.com/office/drawing/2014/main" id="{927E1912-889E-5D01-ADBD-9E6AA29E54BE}"/>
              </a:ext>
            </a:extLst>
          </p:cNvPr>
          <p:cNvSpPr txBox="1">
            <a:spLocks/>
          </p:cNvSpPr>
          <p:nvPr/>
        </p:nvSpPr>
        <p:spPr>
          <a:xfrm>
            <a:off x="214488" y="823509"/>
            <a:ext cx="4684890" cy="4042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Selected: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Incremental Process Model.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authentication and product catalog (Increment 1) before cart and payment features.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incorporation of stakeholder feedback between increments.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distinct focus on Authentication, Product Management, Shopping Cart, and Payment modules.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testing of critical modules reduced integration issues.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551DED-0F0D-C752-5C71-65779719B981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FE823EF0-6BEB-25E5-3BB7-76F3F9E3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4397"/>
            <a:ext cx="7704000" cy="509112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Model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17A57DF-9C06-EA7E-F8E5-DE7E468DE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99" y="1624476"/>
            <a:ext cx="3691687" cy="24672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43935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8C4CFE0C-A48B-EAE8-3FCE-633E2666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73CDE671-21C0-B910-093C-10E6C3F8104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48356" y="887096"/>
            <a:ext cx="8568908" cy="3978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means checking if a project is possible to build and useful before starting it.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Leveraged robust Next.js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ecosystems.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Prisma ORM for efficient database operations.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standard RESTful APIs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upfront cost using open-source frameworks (Next.js,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PostgreSQL).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Free-tier services for development and testing.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Self-sustaining workflows (automated order processing and inventory management).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reduces manual intervention.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46D10-A7E3-1F6D-A1CC-C36BBEA6895B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126748-9BD5-5836-4D4E-375AE575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4397"/>
            <a:ext cx="7704000" cy="5727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7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14DDE8DB-05E2-EAE4-DFA7-0B00C1DC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CF60D727-939D-75DF-5BCB-5BEED741DB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958492"/>
            <a:ext cx="7704000" cy="3015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Engineering is the process of understanding what the user wants from the system.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50000"/>
              </a:lnSpc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categorized into: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C7F03D-08DF-7BD1-07E0-03915B8227E9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19EE0-5505-E0AB-601F-F26697D5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4397"/>
            <a:ext cx="7704000" cy="5727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Engineering</a:t>
            </a:r>
          </a:p>
        </p:txBody>
      </p:sp>
    </p:spTree>
    <p:extLst>
      <p:ext uri="{BB962C8B-B14F-4D97-AF65-F5344CB8AC3E}">
        <p14:creationId xmlns:p14="http://schemas.microsoft.com/office/powerpoint/2010/main" val="25895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AA16D5F5-800D-4EC5-9C92-90E1A49E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4A3B8A52-4A80-77C9-9D0F-446FF4FFAC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14489" y="887096"/>
            <a:ext cx="8602775" cy="3978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(User):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&amp; Security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email/password authentication with email verification.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Discovery: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products with filtering by category, brand.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Shopping Experience: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products to cart with quantity management.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 &amp; Feedback: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36FB8-BA5B-F9E7-A125-45DDC33B1503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02993A-7C6A-DFED-9802-239765624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4397"/>
            <a:ext cx="7704000" cy="5727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15047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0E252AE0-8C4F-AFD1-FF51-62DF373B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31094080-FBE3-36B3-AFB3-554E7F8918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48356" y="815339"/>
            <a:ext cx="8568908" cy="40137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update, delete products with images, specifications, categories, and brands.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process customer orders, and update order status and inventory.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home banners, featured sections, and project portfolios.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Governance: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management, role-based access control, and platform analytics monitoring.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DBDE8-DC28-2A6D-520B-9A1168790F9A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28B8C3-0908-E977-F0B9-FFDFCA86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4397"/>
            <a:ext cx="7704000" cy="500943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(Cont.)</a:t>
            </a:r>
          </a:p>
        </p:txBody>
      </p:sp>
    </p:spTree>
    <p:extLst>
      <p:ext uri="{BB962C8B-B14F-4D97-AF65-F5344CB8AC3E}">
        <p14:creationId xmlns:p14="http://schemas.microsoft.com/office/powerpoint/2010/main" val="591235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009D3573-FDD7-AE1F-4033-6FE51832F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8550DC25-1609-7FFF-9E64-8637B097271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37067" y="838200"/>
            <a:ext cx="8681155" cy="40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Constraints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web application with Next.js frontend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(Clean Architecture).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managed via Prisma ORM for type-safe database operations.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Integrations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integration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online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transactions.Image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image storage for product and project images.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Capabilities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storage and retrieval of products, categories, brands, orders, and user data.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Operations: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cart updates, inventory tracking, and order status management.</a:t>
            </a:r>
          </a:p>
          <a:p>
            <a:pPr marL="13970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A7DF9-AA7D-543F-F004-59D5D68C0E9E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FA3AB6-DAE8-BE07-48E4-6C15E17E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4397"/>
            <a:ext cx="7704000" cy="523803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15502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75E6B94A-3F04-B543-3DE9-D014C715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5CF8528E-42B0-8B3D-95D0-F2368D95F9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14489" y="677333"/>
            <a:ext cx="8715022" cy="4188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Modules: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with email verification and secure login system.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Create, Read, Update, and Delete products with images and specifications.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Lifecycle: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Flow: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Products → Add to Cart → Checkout → Payment → Order Confirmation.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Control: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validation to prevent overselling.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Functions: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Category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products, categories, brands, and brand types.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process, and update order status.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home banners, featured products, and project portfolios.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24954D-9AEB-664C-B847-995CF376B044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0E4138-2858-6412-4F33-3CD553D7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4397"/>
            <a:ext cx="7704000" cy="523803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642102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9599-B06B-4590-9404-FE42BA79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Functional Requirements(cont.)</a:t>
            </a:r>
          </a:p>
        </p:txBody>
      </p:sp>
      <p:sp>
        <p:nvSpPr>
          <p:cNvPr id="3" name="Google Shape;296;p34">
            <a:extLst>
              <a:ext uri="{FF2B5EF4-FFF2-40B4-BE49-F238E27FC236}">
                <a16:creationId xmlns:a16="http://schemas.microsoft.com/office/drawing/2014/main" id="{BAC894DF-3DCC-475A-8276-71B270C0FC9A}"/>
              </a:ext>
            </a:extLst>
          </p:cNvPr>
          <p:cNvSpPr txBox="1">
            <a:spLocks/>
          </p:cNvSpPr>
          <p:nvPr/>
        </p:nvSpPr>
        <p:spPr>
          <a:xfrm>
            <a:off x="214489" y="1196622"/>
            <a:ext cx="8715022" cy="366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: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inventory updates after successful orders.</a:t>
            </a:r>
          </a:p>
        </p:txBody>
      </p:sp>
    </p:spTree>
    <p:extLst>
      <p:ext uri="{BB962C8B-B14F-4D97-AF65-F5344CB8AC3E}">
        <p14:creationId xmlns:p14="http://schemas.microsoft.com/office/powerpoint/2010/main" val="3986990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82F6A802-EA0F-2AFC-99D0-42743906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873549D3-C260-229B-E489-8A15E12066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14489" y="815340"/>
            <a:ext cx="8602775" cy="4050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password hashing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HTTPS encryption for all data.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Role-Based Access Control (RBAC) ensuring user and admin data isolation.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Optimization: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database queries using Prisma ORM for fast product retrieval.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 rendering with Next.js for optimal page load times.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&amp; Scalability: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transactions ensure consistent order and payment processing.</a:t>
            </a: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Architecture pattern supports future scaling and maintenance.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452573-9532-B41F-57A0-859C18DA22CD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F89BDF-DEF7-A5D0-F137-B12A5D357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4397"/>
            <a:ext cx="7704000" cy="500943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217435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F23B-8786-4A1B-BF02-0C85570EF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Non-Functional Requirements(cont.)</a:t>
            </a:r>
          </a:p>
        </p:txBody>
      </p:sp>
      <p:sp>
        <p:nvSpPr>
          <p:cNvPr id="3" name="Google Shape;296;p34">
            <a:extLst>
              <a:ext uri="{FF2B5EF4-FFF2-40B4-BE49-F238E27FC236}">
                <a16:creationId xmlns:a16="http://schemas.microsoft.com/office/drawing/2014/main" id="{867339AD-1001-4AAE-B009-7786DD81B48A}"/>
              </a:ext>
            </a:extLst>
          </p:cNvPr>
          <p:cNvSpPr txBox="1">
            <a:spLocks/>
          </p:cNvSpPr>
          <p:nvPr/>
        </p:nvSpPr>
        <p:spPr>
          <a:xfrm>
            <a:off x="214489" y="1017724"/>
            <a:ext cx="8602775" cy="384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navigation with clear feedback (success/error notifications).</a:t>
            </a:r>
          </a:p>
        </p:txBody>
      </p:sp>
    </p:spTree>
    <p:extLst>
      <p:ext uri="{BB962C8B-B14F-4D97-AF65-F5344CB8AC3E}">
        <p14:creationId xmlns:p14="http://schemas.microsoft.com/office/powerpoint/2010/main" val="3340269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D098E86E-6BB8-6BD0-9F8D-AEF50319A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92862"/>
          </a:xfrm>
        </p:spPr>
        <p:txBody>
          <a:bodyPr anchor="ctr"/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Google Shape;296;p34">
            <a:extLst>
              <a:ext uri="{FF2B5EF4-FFF2-40B4-BE49-F238E27FC236}">
                <a16:creationId xmlns:a16="http://schemas.microsoft.com/office/drawing/2014/main" id="{6D0DFEBE-4033-F8F7-2974-D2DFEB960E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7067" y="838200"/>
            <a:ext cx="4586393" cy="40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 &amp; Key Use Cases: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Login/Registration, Manage Profile, Browse products, View product detail , Add product to cart 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Checkot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, Make Payment , View Project Portfolio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Products &amp; Inventory, Manage Projects &amp; Materials, Process Orders, Update Homepage Banners, View Sales Dashboard, Manage Users.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0D8C28-28C6-AAC3-B93B-BE7754069B8D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91EA4D-FFC3-43AF-9ACC-2137D08CE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156" y="838199"/>
            <a:ext cx="3692108" cy="371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9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5195-043B-D7D5-7283-EE1A871E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08490CBC-AF00-B4A3-F9C6-78F72E5A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91720"/>
          </a:xfrm>
        </p:spPr>
        <p:txBody>
          <a:bodyPr anchor="ctr"/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Analysis Pattern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Google Shape;296;p34">
            <a:extLst>
              <a:ext uri="{FF2B5EF4-FFF2-40B4-BE49-F238E27FC236}">
                <a16:creationId xmlns:a16="http://schemas.microsoft.com/office/drawing/2014/main" id="{43335764-3F63-AAA8-03BD-7937A2CDC8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5777" y="762000"/>
            <a:ext cx="5621867" cy="40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</a:pPr>
            <a:r>
              <a:rPr lang="en-GB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Architecture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(Onion Architecture).</a:t>
            </a:r>
          </a:p>
          <a:p>
            <a:pPr marL="139700" indent="0" algn="just">
              <a:lnSpc>
                <a:spcPct val="150000"/>
              </a:lnSpc>
            </a:pPr>
            <a:r>
              <a:rPr lang="en-GB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endParaRPr lang="en-GB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Next.js Client for UI &amp;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Controllers for handling API requests.</a:t>
            </a:r>
            <a:endParaRPr lang="en-GB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business logic,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Services, Use Cases,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Validation.</a:t>
            </a:r>
            <a:endParaRPr lang="en-GB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Layer: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data access via Prisma Client and external integrations like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Layer: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core entities (User, Product, Project, Brand) and the Prisma Schema.</a:t>
            </a:r>
            <a:endParaRPr lang="en-GB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50000"/>
              </a:lnSpc>
            </a:pPr>
            <a:r>
              <a:rPr lang="en-GB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clear separation of concerns, improved scalability, and easier maintenance of the code base.</a:t>
            </a:r>
            <a:endParaRPr lang="en-GB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42F653-5A29-0632-1DED-5852EA59F3D9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AE688-8E0D-4D8E-9D17-F5E2A00D7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67" y="769620"/>
            <a:ext cx="2890597" cy="378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0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3F92-57DA-5540-6FEA-017BC1F6C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9F7F7E07-1A35-D057-D4F0-D6E1BA3F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841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F21DDC-AD5C-DFE2-0282-070F238D9F08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ABB8F-C5DC-FC2D-2751-6BEC7AF91FFE}"/>
              </a:ext>
            </a:extLst>
          </p:cNvPr>
          <p:cNvSpPr txBox="1"/>
          <p:nvPr/>
        </p:nvSpPr>
        <p:spPr>
          <a:xfrm>
            <a:off x="1312741" y="4454071"/>
            <a:ext cx="2463162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600"/>
              </a:spcBef>
              <a:buNone/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User Registration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B3746-CFEF-7BC2-62CE-370FAB767433}"/>
              </a:ext>
            </a:extLst>
          </p:cNvPr>
          <p:cNvSpPr txBox="1"/>
          <p:nvPr/>
        </p:nvSpPr>
        <p:spPr>
          <a:xfrm>
            <a:off x="5317046" y="4477517"/>
            <a:ext cx="2923156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Admin Management Module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55DEBA-8604-9E8E-B05C-BC64E38956B7}"/>
              </a:ext>
            </a:extLst>
          </p:cNvPr>
          <p:cNvCxnSpPr>
            <a:cxnSpLocks/>
          </p:cNvCxnSpPr>
          <p:nvPr/>
        </p:nvCxnSpPr>
        <p:spPr>
          <a:xfrm>
            <a:off x="4572000" y="893520"/>
            <a:ext cx="0" cy="37871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030144E-E352-41C6-8ED4-731B2D010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20" y="762000"/>
            <a:ext cx="3164541" cy="35952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0251A2-595C-4D18-92AC-03C61D4C0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057" y="758906"/>
            <a:ext cx="2923156" cy="372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95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1FAEB7D0-9B81-9312-D3E7-EFFA6B6B0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9934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Diagrams (Cont.)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B97ED-5F84-D5CC-76E5-E35D7E06243D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1C440-C9D8-FA97-5AC8-066796C7D863}"/>
              </a:ext>
            </a:extLst>
          </p:cNvPr>
          <p:cNvSpPr txBox="1"/>
          <p:nvPr/>
        </p:nvSpPr>
        <p:spPr>
          <a:xfrm>
            <a:off x="2391933" y="4485791"/>
            <a:ext cx="4360133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Product Purchase Workflow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191BDD-61D7-4499-B3C4-A66DAD1AE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865" y="776182"/>
            <a:ext cx="3310267" cy="371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75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5A8E9-C8AE-1FEE-A661-7C2C8742D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07654B47-4AD8-4E55-EDD2-26C33E7B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841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Swim-lane Diagrams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07079-C721-6E3B-FE0B-C013980E2834}"/>
              </a:ext>
            </a:extLst>
          </p:cNvPr>
          <p:cNvSpPr txBox="1"/>
          <p:nvPr/>
        </p:nvSpPr>
        <p:spPr>
          <a:xfrm>
            <a:off x="1382079" y="4369406"/>
            <a:ext cx="2463162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600"/>
              </a:spcBef>
              <a:buNone/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User Registration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47175-6298-3C9F-DBB6-EC3C863E4B21}"/>
              </a:ext>
            </a:extLst>
          </p:cNvPr>
          <p:cNvSpPr txBox="1"/>
          <p:nvPr/>
        </p:nvSpPr>
        <p:spPr>
          <a:xfrm>
            <a:off x="4872138" y="4369406"/>
            <a:ext cx="3633045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Admin Management Module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C1E61D-901B-DDA7-A0F8-DED843BCE964}"/>
              </a:ext>
            </a:extLst>
          </p:cNvPr>
          <p:cNvCxnSpPr>
            <a:cxnSpLocks/>
          </p:cNvCxnSpPr>
          <p:nvPr/>
        </p:nvCxnSpPr>
        <p:spPr>
          <a:xfrm>
            <a:off x="4572000" y="770683"/>
            <a:ext cx="0" cy="37871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85FE80E-3344-B1DE-0F20-7F9AAAC9DDC9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A80F83-3162-4800-A437-FA6328CC2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82" y="770683"/>
            <a:ext cx="4079657" cy="35987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A3AD33-7C37-4F43-AD15-89D9423BC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2" y="770683"/>
            <a:ext cx="4040369" cy="368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56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2D53-8C10-33E1-5B34-4671EC70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D513D359-EA8E-1EFC-A5DA-AED15481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841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Swim-lane Diagrams (Cont.)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E2CDA-FA91-92EC-ED21-30A4C4E02AC8}"/>
              </a:ext>
            </a:extLst>
          </p:cNvPr>
          <p:cNvSpPr txBox="1"/>
          <p:nvPr/>
        </p:nvSpPr>
        <p:spPr>
          <a:xfrm>
            <a:off x="745301" y="4493673"/>
            <a:ext cx="7733061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Product Purchase Workflow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C08B4-FBA4-738B-E54B-20CD3CC07394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E10FB1-CF09-44DC-A4FD-A83DA63CA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762000"/>
            <a:ext cx="8410864" cy="372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21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BD80-2407-5C7B-FE7B-39743183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7511A01F-2F3A-6422-B00F-2FDE8FD5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841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2E8E1-A6FE-39C0-6FB2-3A8C9879D7BC}"/>
              </a:ext>
            </a:extLst>
          </p:cNvPr>
          <p:cNvSpPr txBox="1"/>
          <p:nvPr/>
        </p:nvSpPr>
        <p:spPr>
          <a:xfrm>
            <a:off x="2068283" y="4437140"/>
            <a:ext cx="5007432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600"/>
              </a:spcBef>
              <a:buNone/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Registration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D5467-92B9-BBF8-EF1A-989838F4D21F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3F7188-927B-42B8-9453-D25B09F5F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844" y="762000"/>
            <a:ext cx="5170311" cy="351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10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85D6-1E03-CE7E-736F-939C2753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417F331E-06C7-64FC-F6FE-CACE8C74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841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 (Cont.)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D7A61-E70E-8974-536D-E955095B07DD}"/>
              </a:ext>
            </a:extLst>
          </p:cNvPr>
          <p:cNvSpPr txBox="1"/>
          <p:nvPr/>
        </p:nvSpPr>
        <p:spPr>
          <a:xfrm>
            <a:off x="2144889" y="4467581"/>
            <a:ext cx="485422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Admin Management Module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D373A-0EFD-3E02-1DBF-02B31D5E7F22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768629-9ADF-4468-848A-E5E81501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803123"/>
            <a:ext cx="4854221" cy="366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44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A121-B74B-51DD-6076-C3556A54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F270054B-5116-53FF-0212-B54FF664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841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 (Cont.)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52DEE-63B6-544B-20E3-0713078AF884}"/>
              </a:ext>
            </a:extLst>
          </p:cNvPr>
          <p:cNvSpPr txBox="1"/>
          <p:nvPr/>
        </p:nvSpPr>
        <p:spPr>
          <a:xfrm>
            <a:off x="1868310" y="4389261"/>
            <a:ext cx="5407377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Product Purchase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F97F7-E9C3-27A3-A8E9-71189977644C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09A169-1BBC-404A-91E4-E9C82EF95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311" y="754239"/>
            <a:ext cx="5407378" cy="361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16CFE-4BBF-B05F-65B9-1C259BA4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>
            <a:extLst>
              <a:ext uri="{FF2B5EF4-FFF2-40B4-BE49-F238E27FC236}">
                <a16:creationId xmlns:a16="http://schemas.microsoft.com/office/drawing/2014/main" id="{786B0E24-E793-E2DF-E911-0340598D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7900"/>
            <a:ext cx="7704000" cy="484100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87712-69B2-90A0-8461-6ED0F1FE5B42}"/>
              </a:ext>
            </a:extLst>
          </p:cNvPr>
          <p:cNvSpPr txBox="1"/>
          <p:nvPr/>
        </p:nvSpPr>
        <p:spPr>
          <a:xfrm>
            <a:off x="326736" y="790084"/>
            <a:ext cx="4008197" cy="360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1..1 Cart (One User has exactly one active Cart)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1.. Product* (One Category contains many Products)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1.. Product* (One Brand manufactures many Products)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BrandType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1.. Brand* (One Brand Type categorizes multiple Brands)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1..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CartItem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(One Cart contains multiple Cart Items)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718712-2CF6-66C2-0238-C01BA0D417F2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4A9D5-8E8E-4B74-9356-D21AC5B0C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533" y="762000"/>
            <a:ext cx="4380731" cy="36084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240EA1-D02D-4018-85E1-BDFA390F61DF}"/>
              </a:ext>
            </a:extLst>
          </p:cNvPr>
          <p:cNvSpPr txBox="1"/>
          <p:nvPr/>
        </p:nvSpPr>
        <p:spPr>
          <a:xfrm>
            <a:off x="5049275" y="4435333"/>
            <a:ext cx="3155245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Class Diagram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781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9BF8D-7725-464E-93C3-DDAA2968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Diagram(cont.)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81537D-43FC-45E0-979B-46CB0555CEE7}"/>
              </a:ext>
            </a:extLst>
          </p:cNvPr>
          <p:cNvSpPr txBox="1"/>
          <p:nvPr/>
        </p:nvSpPr>
        <p:spPr>
          <a:xfrm>
            <a:off x="304800" y="1017725"/>
            <a:ext cx="4192954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1..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CartItem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(One Product can be added to many Carts)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1.. Project* (One Project Type classifies multiple Projects)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1.. Project* (One Material is used in multiple Projects)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1.. Order* (One User can place multiple Orders)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054A381-D002-427A-9B79-066854796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3" y="1017725"/>
            <a:ext cx="4075931" cy="328532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5EF55B9-C1E3-4FBF-977C-1A5DF829EF54}"/>
              </a:ext>
            </a:extLst>
          </p:cNvPr>
          <p:cNvSpPr txBox="1"/>
          <p:nvPr/>
        </p:nvSpPr>
        <p:spPr>
          <a:xfrm>
            <a:off x="5211955" y="4419747"/>
            <a:ext cx="3155245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Class Diagram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154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5630-0BFC-F3F6-2CAD-47722FD7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5485"/>
            <a:ext cx="7704000" cy="5303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Management: Technical Risk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64F2C2-59EC-C1C3-3C9D-900B5461F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446223"/>
              </p:ext>
            </p:extLst>
          </p:nvPr>
        </p:nvGraphicFramePr>
        <p:xfrm>
          <a:off x="326736" y="845820"/>
          <a:ext cx="8126326" cy="3876519"/>
        </p:xfrm>
        <a:graphic>
          <a:graphicData uri="http://schemas.openxmlformats.org/drawingml/2006/table">
            <a:tbl>
              <a:tblPr>
                <a:tableStyleId>{E8D2490D-5C05-42BE-8C55-A3A80E69C988}</a:tableStyleId>
              </a:tblPr>
              <a:tblGrid>
                <a:gridCol w="2351039">
                  <a:extLst>
                    <a:ext uri="{9D8B030D-6E8A-4147-A177-3AD203B41FA5}">
                      <a16:colId xmlns:a16="http://schemas.microsoft.com/office/drawing/2014/main" val="3824395708"/>
                    </a:ext>
                  </a:extLst>
                </a:gridCol>
                <a:gridCol w="5775287">
                  <a:extLst>
                    <a:ext uri="{9D8B030D-6E8A-4147-A177-3AD203B41FA5}">
                      <a16:colId xmlns:a16="http://schemas.microsoft.com/office/drawing/2014/main" val="668679347"/>
                    </a:ext>
                  </a:extLst>
                </a:gridCol>
              </a:tblGrid>
              <a:tr h="38203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Risk (R1)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Date:12-01-2026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643389"/>
                  </a:ext>
                </a:extLst>
              </a:tr>
              <a:tr h="38203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SSLCommerz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Payment Gateway Failure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647827"/>
                  </a:ext>
                </a:extLst>
              </a:tr>
              <a:tr h="38203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(Payment functionality breaks, order completion halted)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615537"/>
                  </a:ext>
                </a:extLst>
              </a:tr>
              <a:tr h="7096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downtime or integration errors preventing users from completing high-value transactions for premium building materials.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253173"/>
                  </a:ext>
                </a:extLst>
              </a:tr>
              <a:tr h="10372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&amp; Monitoring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Transaction Logging in the database (Payment model) to track all initiation attempts. Use try-catch blocks to handle API timeout errors gracefully.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361737"/>
                  </a:ext>
                </a:extLst>
              </a:tr>
              <a:tr h="6014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user-friendly error messages and provide offline order fallback.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395887"/>
                  </a:ext>
                </a:extLst>
              </a:tr>
              <a:tr h="38203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Mitigated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(Fallback implemented)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5613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487564D-AD66-A10A-988A-AA30BF588479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578960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67CD-7CB3-3881-BE1A-121B5627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219A-43F9-F64B-123D-487EE251E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5485"/>
            <a:ext cx="7704000" cy="5303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Management:Technical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423A09-7137-2836-C159-F8303C47D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117635"/>
              </p:ext>
            </p:extLst>
          </p:nvPr>
        </p:nvGraphicFramePr>
        <p:xfrm>
          <a:off x="327378" y="845820"/>
          <a:ext cx="8096622" cy="3850357"/>
        </p:xfrm>
        <a:graphic>
          <a:graphicData uri="http://schemas.openxmlformats.org/drawingml/2006/table">
            <a:tbl>
              <a:tblPr>
                <a:tableStyleId>{E8D2490D-5C05-42BE-8C55-A3A80E69C988}</a:tableStyleId>
              </a:tblPr>
              <a:tblGrid>
                <a:gridCol w="2419873">
                  <a:extLst>
                    <a:ext uri="{9D8B030D-6E8A-4147-A177-3AD203B41FA5}">
                      <a16:colId xmlns:a16="http://schemas.microsoft.com/office/drawing/2014/main" val="4013664771"/>
                    </a:ext>
                  </a:extLst>
                </a:gridCol>
                <a:gridCol w="5676749">
                  <a:extLst>
                    <a:ext uri="{9D8B030D-6E8A-4147-A177-3AD203B41FA5}">
                      <a16:colId xmlns:a16="http://schemas.microsoft.com/office/drawing/2014/main" val="1174848914"/>
                    </a:ext>
                  </a:extLst>
                </a:gridCol>
              </a:tblGrid>
              <a:tr h="4406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Risk (R2)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Date: 12-01-2026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011830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Inventory Concurrency Issues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271248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(Overselling, negative inventory)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546942"/>
                  </a:ext>
                </a:extLst>
              </a:tr>
              <a:tr h="6118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users buying last unit simultaneously.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484133"/>
                  </a:ext>
                </a:extLst>
              </a:tr>
              <a:tr h="8638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&amp; Monitoring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Prisma Transactions to lock database rows during checkout and monitor order vs stock deduction counts.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492306"/>
                  </a:ext>
                </a:extLst>
              </a:tr>
              <a:tr h="6118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transaction rollback on payment or stock update failure.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023104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7245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32988BA-2929-429C-B4B9-4A9D479BB8C8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8642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2983-FC4A-3DCA-D8C6-95650F282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6E5C-7C8C-EA65-E53F-DE4AA0A4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5485"/>
            <a:ext cx="7704000" cy="5303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Management:Technical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9CE2B8-9D67-4A04-B2C4-EE7EC5CE8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947825"/>
              </p:ext>
            </p:extLst>
          </p:nvPr>
        </p:nvGraphicFramePr>
        <p:xfrm>
          <a:off x="316089" y="845820"/>
          <a:ext cx="8107911" cy="3535948"/>
        </p:xfrm>
        <a:graphic>
          <a:graphicData uri="http://schemas.openxmlformats.org/drawingml/2006/table">
            <a:tbl>
              <a:tblPr>
                <a:tableStyleId>{E8D2490D-5C05-42BE-8C55-A3A80E69C988}</a:tableStyleId>
              </a:tblPr>
              <a:tblGrid>
                <a:gridCol w="2300966">
                  <a:extLst>
                    <a:ext uri="{9D8B030D-6E8A-4147-A177-3AD203B41FA5}">
                      <a16:colId xmlns:a16="http://schemas.microsoft.com/office/drawing/2014/main" val="578084209"/>
                    </a:ext>
                  </a:extLst>
                </a:gridCol>
                <a:gridCol w="5806945">
                  <a:extLst>
                    <a:ext uri="{9D8B030D-6E8A-4147-A177-3AD203B41FA5}">
                      <a16:colId xmlns:a16="http://schemas.microsoft.com/office/drawing/2014/main" val="1518784676"/>
                    </a:ext>
                  </a:extLst>
                </a:gridCol>
              </a:tblGrid>
              <a:tr h="4204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Risk (R3)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Date: 12-01-2026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153282"/>
                  </a:ext>
                </a:extLst>
              </a:tr>
              <a:tr h="4204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Page Load Times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186473"/>
                  </a:ext>
                </a:extLst>
              </a:tr>
              <a:tr h="4204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(Poor UX, high bounce rate)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726139"/>
                  </a:ext>
                </a:extLst>
              </a:tr>
              <a:tr h="4892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High-resolution images causing slow loads.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678732"/>
                  </a:ext>
                </a:extLst>
              </a:tr>
              <a:tr h="78105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&amp; Monitoring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Next.js Image optimization, implement lazy loading, cache with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TanStack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Query, and run Lighthouse audits.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833620"/>
                  </a:ext>
                </a:extLst>
              </a:tr>
              <a:tr h="5838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 optimized images from CDN with progressive loading.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847922"/>
                  </a:ext>
                </a:extLst>
              </a:tr>
              <a:tr h="42046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7492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F09A5C-0E0F-8376-FF5C-C887A8F47664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36478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9F1C529-5D58-410A-86DB-20D2B2A79890}"/>
              </a:ext>
            </a:extLst>
          </p:cNvPr>
          <p:cNvSpPr txBox="1">
            <a:spLocks/>
          </p:cNvSpPr>
          <p:nvPr/>
        </p:nvSpPr>
        <p:spPr>
          <a:xfrm>
            <a:off x="720000" y="315485"/>
            <a:ext cx="7704000" cy="53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Management:Security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(R4)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DA0A04-07E9-4856-9D76-06C33689F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20796"/>
              </p:ext>
            </p:extLst>
          </p:nvPr>
        </p:nvGraphicFramePr>
        <p:xfrm>
          <a:off x="316089" y="845819"/>
          <a:ext cx="8107911" cy="3606961"/>
        </p:xfrm>
        <a:graphic>
          <a:graphicData uri="http://schemas.openxmlformats.org/drawingml/2006/table">
            <a:tbl>
              <a:tblPr>
                <a:tableStyleId>{E8D2490D-5C05-42BE-8C55-A3A80E69C988}</a:tableStyleId>
              </a:tblPr>
              <a:tblGrid>
                <a:gridCol w="2300966">
                  <a:extLst>
                    <a:ext uri="{9D8B030D-6E8A-4147-A177-3AD203B41FA5}">
                      <a16:colId xmlns:a16="http://schemas.microsoft.com/office/drawing/2014/main" val="578084209"/>
                    </a:ext>
                  </a:extLst>
                </a:gridCol>
                <a:gridCol w="5806945">
                  <a:extLst>
                    <a:ext uri="{9D8B030D-6E8A-4147-A177-3AD203B41FA5}">
                      <a16:colId xmlns:a16="http://schemas.microsoft.com/office/drawing/2014/main" val="1518784676"/>
                    </a:ext>
                  </a:extLst>
                </a:gridCol>
              </a:tblGrid>
              <a:tr h="456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Risk (R4)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Date: 12-01-2026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153282"/>
                  </a:ext>
                </a:extLst>
              </a:tr>
              <a:tr h="456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Unauthorized Admin Access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186473"/>
                  </a:ext>
                </a:extLst>
              </a:tr>
              <a:tr h="456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(Data manipulation)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726139"/>
                  </a:ext>
                </a:extLst>
              </a:tr>
              <a:tr h="43753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Unauthorized access to admin dashboard.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678732"/>
                  </a:ext>
                </a:extLst>
              </a:tr>
              <a:tr h="8480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&amp; Monitoring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Enforce RBAC using JWT Guards, use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bcrypt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hashing, implement session timeouts, and log all failed login attempts.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833620"/>
                  </a:ext>
                </a:extLst>
              </a:tr>
              <a:tr h="4953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Immediate account lockout and automated security alerts.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847922"/>
                  </a:ext>
                </a:extLst>
              </a:tr>
              <a:tr h="456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749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707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2B9C-D1CE-45F4-C14F-F78B2047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4596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E6DC14-659A-6689-311A-FBC94CDF67F1}"/>
              </a:ext>
            </a:extLst>
          </p:cNvPr>
          <p:cNvSpPr txBox="1"/>
          <p:nvPr/>
        </p:nvSpPr>
        <p:spPr>
          <a:xfrm>
            <a:off x="259644" y="942320"/>
            <a:ext cx="8193417" cy="360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Measures software size based on functionality provided to the user.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Internal Logical Files (ILF):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 Products, Projects, Brands, Carts, Orders, Home Banners (High Complexity)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 Interface Files (EIF):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 API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 Functions: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Product Management, Cart Operations, Checkout, Payment Processing (EI/EO/EQ)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Calculation: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Unadjusted Function Points (UFP) =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145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Adjusted Function Points (AFP)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157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Estimation: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11.2 person-months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1B189-99AA-5797-10FF-61B2E5DBCDE6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84353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CCA7-04A5-A86A-4BD8-91D98FAD3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F3CD-4594-22DF-9428-1662E5CF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4596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 Calculation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B9A446-4C92-BF41-C6C8-AA64350F8A6F}"/>
                  </a:ext>
                </a:extLst>
              </p:cNvPr>
              <p:cNvSpPr txBox="1"/>
              <p:nvPr/>
            </p:nvSpPr>
            <p:spPr>
              <a:xfrm>
                <a:off x="326736" y="800100"/>
                <a:ext cx="8053359" cy="38554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Degree of Influence (TDI):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43 (sum of 14 General System Characteristics factors)</a:t>
                </a:r>
                <a:endParaRPr lang="en-US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Adjustment Factor (VAF):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VAF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43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𝟎𝟖</m:t>
                      </m:r>
                    </m:oMath>
                  </m:oMathPara>
                </a14:m>
                <a:endParaRPr lang="en-US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Adjusted Function Points (AFP):</a:t>
                </a: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AFP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UFP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VAF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145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08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156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𝟏𝟓𝟕</m:t>
                      </m:r>
                      <m:r>
                        <m:rPr>
                          <m:nor/>
                        </m:rPr>
                        <a:rPr lang="en-GB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FP</m:t>
                      </m:r>
                    </m:oMath>
                  </m:oMathPara>
                </a14:m>
                <a:endParaRPr lang="en-US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Effort Estimation: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Productivity ≈ 14 FP / Person-Month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Effort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157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nor/>
                        </m:rPr>
                        <a:rPr lang="ar-AE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Person</m:t>
                      </m:r>
                      <m:r>
                        <m:rPr>
                          <m:nor/>
                        </m:rPr>
                        <a:rPr lang="en-GB" b="1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1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GB" b="1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Months</m:t>
                      </m:r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Schedule Calculation: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Team Size = 4 Developers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Duration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m:rPr>
                          <m:nor/>
                        </m:rPr>
                        <a:rPr lang="ar-AE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Months</m:t>
                      </m:r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𝟏𝟐</m:t>
                    </m:r>
                    <m:r>
                      <m:rPr>
                        <m:nor/>
                      </m:rPr>
                      <a:rPr lang="en-GB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Weeks</m:t>
                    </m:r>
                    <m:r>
                      <m:rPr>
                        <m:nor/>
                      </m:rPr>
                      <a:rPr lang="en-GB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GB" b="0" i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1" i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3 </m:t>
                    </m:r>
                    <m:r>
                      <m:rPr>
                        <m:nor/>
                      </m:rPr>
                      <a:rPr lang="en-GB" b="1" i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Months</m:t>
                    </m:r>
                  </m:oMath>
                </a14:m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(approximate)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B9A446-4C92-BF41-C6C8-AA64350F8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" y="800100"/>
                <a:ext cx="8053359" cy="3855479"/>
              </a:xfrm>
              <a:prstGeom prst="rect">
                <a:avLst/>
              </a:prstGeom>
              <a:blipFill>
                <a:blip r:embed="rId2"/>
                <a:stretch>
                  <a:fillRect l="-151" b="-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F02FEA1-FA6C-11DC-8300-21CE55F848B1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8373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0D61-C6A1-1D5C-44ED-82F3A945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5994-BE62-8EE2-7459-13C4A5989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4596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1AF36-1A3B-85A0-3E84-92BE4342F934}"/>
              </a:ext>
            </a:extLst>
          </p:cNvPr>
          <p:cNvSpPr txBox="1"/>
          <p:nvPr/>
        </p:nvSpPr>
        <p:spPr>
          <a:xfrm>
            <a:off x="619125" y="800100"/>
            <a:ext cx="3808095" cy="3957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(12 Weeks: Oct 2025 – Jan 2026)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Design (4 weeks):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Requirements, feasibility, tech stack selection (Next.js/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Architecture design, ERD, and UI/UX design.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1 (2 weeks):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(User/Admin), Profile management, and CMS setup (Home Banners, Brand hierarchies).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2 (2 weeks):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Catalog implementation, "Project Inspiration" showcase, and Search/Filter logic.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3 (2 weeks):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 functionality, Order lifecycle, and Payment integration (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B5E5A-EC81-5220-784A-4EF9CA5A1295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3B416B-C98E-4DA7-B654-C55B76EF37F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220" y="835375"/>
            <a:ext cx="4435200" cy="3586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009B93-E31B-494E-9BE5-4B0D2BB2397C}"/>
              </a:ext>
            </a:extLst>
          </p:cNvPr>
          <p:cNvSpPr txBox="1"/>
          <p:nvPr/>
        </p:nvSpPr>
        <p:spPr>
          <a:xfrm>
            <a:off x="5155674" y="4080795"/>
            <a:ext cx="2978291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Project Schedule Gantt Chart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930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F11E166-1239-4F9C-8F3D-102AE0190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4596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Scheduling(cont.)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934C6-4115-45C9-95B7-6ED88190425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220" y="790219"/>
            <a:ext cx="4435200" cy="3586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B1B08B-4CFB-4708-818D-D6CFB3443043}"/>
              </a:ext>
            </a:extLst>
          </p:cNvPr>
          <p:cNvSpPr txBox="1"/>
          <p:nvPr/>
        </p:nvSpPr>
        <p:spPr>
          <a:xfrm>
            <a:off x="619125" y="970843"/>
            <a:ext cx="3808095" cy="1256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(12 Weeks: Oct 2025 – Jan 2026)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Deployment (2 weeks):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Unit/Integration testing, bug fixing, deployment to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/VPS, and documentation.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BB461-DC4C-4C13-B8A5-BC3EDF63005B}"/>
              </a:ext>
            </a:extLst>
          </p:cNvPr>
          <p:cNvSpPr txBox="1"/>
          <p:nvPr/>
        </p:nvSpPr>
        <p:spPr>
          <a:xfrm>
            <a:off x="5155674" y="3976447"/>
            <a:ext cx="2978291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Project Schedule Gantt Chart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3580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53669CF6-0F4C-982A-21FB-F966FCBA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00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FA1455-4B83-15AA-C561-D036521D3A99}"/>
              </a:ext>
            </a:extLst>
          </p:cNvPr>
          <p:cNvSpPr txBox="1"/>
          <p:nvPr/>
        </p:nvSpPr>
        <p:spPr>
          <a:xfrm>
            <a:off x="293511" y="821366"/>
            <a:ext cx="4179429" cy="253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 0 (Context Level DFD):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Auraluxe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is the central processing unit.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register, browse luxury materials, and place orders.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manages inventory, project portfolios, and monitors sales.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secure payment transactions.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94C1C-4209-DA8C-C5B4-0467107F784D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F4A224-527A-43E2-A1AA-9C648CF5AA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21366"/>
            <a:ext cx="4031070" cy="35361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93937F-71D5-4E68-B5DE-731D7889E8C3}"/>
              </a:ext>
            </a:extLst>
          </p:cNvPr>
          <p:cNvSpPr txBox="1"/>
          <p:nvPr/>
        </p:nvSpPr>
        <p:spPr>
          <a:xfrm>
            <a:off x="5098389" y="4439737"/>
            <a:ext cx="2978291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Figure:Level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0 DFD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231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8B0C-B4D7-3AF4-F6E9-B4F3AF2C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F41E5BE-1C13-4320-1500-12234F897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00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(Cont.)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A350EE-CC2F-6C63-46D9-18381EAA5A27}"/>
              </a:ext>
            </a:extLst>
          </p:cNvPr>
          <p:cNvSpPr txBox="1"/>
          <p:nvPr/>
        </p:nvSpPr>
        <p:spPr>
          <a:xfrm>
            <a:off x="270933" y="857139"/>
            <a:ext cx="4380089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DFD</a:t>
            </a: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registration, secure login, and profile updates.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product catalog retrieval, search, and filtering.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shopping cart items and order creation.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financial transactions via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controls inventory, project portfolios, and CMS content.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sales data and updates order statuses.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20F36F-0C3A-B1C2-A222-36DFDDDBD2D7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FC4A1B-6FD5-4063-9CF0-E3900924FD9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022" y="834705"/>
            <a:ext cx="3984141" cy="36095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2DEB5D-4986-416A-B6CE-ADCDCA201B25}"/>
              </a:ext>
            </a:extLst>
          </p:cNvPr>
          <p:cNvSpPr txBox="1"/>
          <p:nvPr/>
        </p:nvSpPr>
        <p:spPr>
          <a:xfrm>
            <a:off x="5153946" y="4417472"/>
            <a:ext cx="2978291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tabLst>
                <a:tab pos="628650" algn="l"/>
                <a:tab pos="5486400" algn="r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Figure:Level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 DFD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92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1A680-1B25-2216-3C46-20497EC5B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6776064F-C674-343A-62E2-7DBDB962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00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(Cont.)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7FED2-8DBD-9EA4-B006-1B9CEF46455A}"/>
              </a:ext>
            </a:extLst>
          </p:cNvPr>
          <p:cNvSpPr txBox="1"/>
          <p:nvPr/>
        </p:nvSpPr>
        <p:spPr>
          <a:xfrm>
            <a:off x="549413" y="953164"/>
            <a:ext cx="3222487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DFD (process 1 &amp; Process 2):</a:t>
            </a:r>
            <a:endParaRPr lang="en-GB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51253-DEA9-3C54-2FCF-D3F426E1EDF5}"/>
              </a:ext>
            </a:extLst>
          </p:cNvPr>
          <p:cNvSpPr txBox="1"/>
          <p:nvPr/>
        </p:nvSpPr>
        <p:spPr>
          <a:xfrm>
            <a:off x="777061" y="3864396"/>
            <a:ext cx="3151254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Figure: Process 1 –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endParaRPr lang="en-GB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AE24F-08D6-1802-E386-D22711E6D8FE}"/>
              </a:ext>
            </a:extLst>
          </p:cNvPr>
          <p:cNvSpPr txBox="1"/>
          <p:nvPr/>
        </p:nvSpPr>
        <p:spPr>
          <a:xfrm>
            <a:off x="4922372" y="3864396"/>
            <a:ext cx="3151255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Figure: Process 2 –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Browsing</a:t>
            </a:r>
            <a:endParaRPr lang="en-GB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2BF74-152A-FB5F-44B8-7BCF72B03400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04A03F-37A1-4CAA-B902-C3FEC499ACB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60" y="1483809"/>
            <a:ext cx="3309517" cy="2329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A106FC-01D5-45A1-9BAE-36AD05F61A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83809"/>
            <a:ext cx="3852000" cy="23296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573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F830-08CE-474B-64CF-6BF626BE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08232FDB-41EB-BF1C-8351-0CC26CC56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00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(Cont.)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C0388-76D3-123B-495B-58A001FF64DC}"/>
              </a:ext>
            </a:extLst>
          </p:cNvPr>
          <p:cNvSpPr txBox="1"/>
          <p:nvPr/>
        </p:nvSpPr>
        <p:spPr>
          <a:xfrm>
            <a:off x="557033" y="975627"/>
            <a:ext cx="3237727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DFD (Process 3 &amp; Process 4)</a:t>
            </a: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9AF8F-5BBA-F18D-27FF-190B85120950}"/>
              </a:ext>
            </a:extLst>
          </p:cNvPr>
          <p:cNvSpPr txBox="1"/>
          <p:nvPr/>
        </p:nvSpPr>
        <p:spPr>
          <a:xfrm>
            <a:off x="720000" y="4301067"/>
            <a:ext cx="3226073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Figure: Process 3 –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</a:t>
            </a:r>
            <a:endParaRPr lang="en-GB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48CB2-726C-9DA5-9869-A5DB193836AF}"/>
              </a:ext>
            </a:extLst>
          </p:cNvPr>
          <p:cNvSpPr txBox="1"/>
          <p:nvPr/>
        </p:nvSpPr>
        <p:spPr>
          <a:xfrm>
            <a:off x="5497694" y="4312356"/>
            <a:ext cx="3151255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Figure: Process 4 –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product</a:t>
            </a:r>
            <a:endParaRPr lang="en-GB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2F956E-0933-3023-C7ED-9013D6F17A7A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EE193-2E87-4ED6-A94E-4344ACF9527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52460"/>
            <a:ext cx="3411733" cy="3038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AD804D-772B-4460-B3A8-D01FCD43C23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49" y="1450568"/>
            <a:ext cx="3704414" cy="285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073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DEE1D-F45E-8F81-4852-E113DF0D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C8185782-D3C1-92A2-48E7-8CE5ADBD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00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(Cont.)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DDB47-4CC5-037C-3FDA-22365FC8E4E3}"/>
              </a:ext>
            </a:extLst>
          </p:cNvPr>
          <p:cNvSpPr txBox="1"/>
          <p:nvPr/>
        </p:nvSpPr>
        <p:spPr>
          <a:xfrm>
            <a:off x="720000" y="833615"/>
            <a:ext cx="3222487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DFD (process 5 &amp; Process 6):</a:t>
            </a:r>
            <a:endParaRPr lang="en-GB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63D36-4FFF-6A8C-6F3C-D40B0290F635}"/>
              </a:ext>
            </a:extLst>
          </p:cNvPr>
          <p:cNvSpPr txBox="1"/>
          <p:nvPr/>
        </p:nvSpPr>
        <p:spPr>
          <a:xfrm>
            <a:off x="5145506" y="4180988"/>
            <a:ext cx="3307556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Figure: Process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– Product Management</a:t>
            </a:r>
            <a:endParaRPr lang="en-GB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A68C5C-B034-0658-05E1-30BB70BE9EC6}"/>
              </a:ext>
            </a:extLst>
          </p:cNvPr>
          <p:cNvSpPr txBox="1"/>
          <p:nvPr/>
        </p:nvSpPr>
        <p:spPr>
          <a:xfrm>
            <a:off x="791232" y="4180989"/>
            <a:ext cx="3151255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Process 5 –Payment Processing</a:t>
            </a:r>
            <a:endParaRPr lang="en-GB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89FA9-4CBD-B9CF-FFF9-E57CAB29E300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3E2960-BEE7-4424-B0C9-FFBB2385721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99" y="1304923"/>
            <a:ext cx="3307555" cy="2876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846A14-0A86-41AD-9600-DF76F22AB20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622" y="1304923"/>
            <a:ext cx="4064642" cy="2876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0300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6F20-1938-F01C-9F4B-A7E1BE56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24CD1D42-2CF6-5796-5A44-A11C7EA59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00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A221E0-61E5-5F50-C371-9318221F084D}"/>
              </a:ext>
            </a:extLst>
          </p:cNvPr>
          <p:cNvSpPr txBox="1"/>
          <p:nvPr/>
        </p:nvSpPr>
        <p:spPr>
          <a:xfrm>
            <a:off x="282223" y="805783"/>
            <a:ext cx="4495518" cy="26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Checkout Module: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- Cart (1:1): Each user is assigned exactly one unique Shopping Cart to manage their temporary selections.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- Order (1:N): A single user can place multiple Orders over time, creating a history of transactions.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Cart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CartItem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(1:N): The Cart acts as a container that holds multiple Cart Items (products and quantities).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AE9E1-71C3-B01F-0A60-E4FC0A95513A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282EF-4689-47D4-9DAB-E58A370A98B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822" y="805783"/>
            <a:ext cx="3638765" cy="3653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0555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D722-5BD3-CCE5-DF0F-D286BDCB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C8D8141-BBAB-421F-3DC3-8528216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85005"/>
            <a:ext cx="7704000" cy="454135"/>
          </a:xfrm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(Cont.)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BF33A-74B3-38E4-FACB-0071A82B4231}"/>
              </a:ext>
            </a:extLst>
          </p:cNvPr>
          <p:cNvSpPr txBox="1"/>
          <p:nvPr/>
        </p:nvSpPr>
        <p:spPr>
          <a:xfrm>
            <a:off x="304801" y="805783"/>
            <a:ext cx="4450080" cy="23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GB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BrandType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Brand (1:N): A broader "Type" (e.g., Ceramics) categorizes multiple specific Brands.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- Product (1:N): Each Brand manufactures multiple unique Products.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- Product (1:N): Products are also organized by Category (e.g., Tiles, Faucets) for easy filtering.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67E61-9F24-CE22-548E-FD21A0456BD9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C13468-A932-43E7-BB98-CF84093DE99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822" y="805783"/>
            <a:ext cx="3638765" cy="3653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4155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204A-12C9-B420-4734-732C84B3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499AB8-46F6-D7F1-6F30-941C5EFC260C}"/>
              </a:ext>
            </a:extLst>
          </p:cNvPr>
          <p:cNvSpPr txBox="1"/>
          <p:nvPr/>
        </p:nvSpPr>
        <p:spPr>
          <a:xfrm>
            <a:off x="327379" y="739140"/>
            <a:ext cx="4701822" cy="23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Processing Module: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(1:N): When an order is confirmed, it locks in multiple Order Items (preserving the price at the time of purchase).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- Payment (1:1): Each Order is linked to a single, distinct Payment record (containing the Transaction ID and Status).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D8729B-4D0B-16C9-433B-1152B63C32A4}"/>
              </a:ext>
            </a:extLst>
          </p:cNvPr>
          <p:cNvSpPr txBox="1">
            <a:spLocks/>
          </p:cNvSpPr>
          <p:nvPr/>
        </p:nvSpPr>
        <p:spPr>
          <a:xfrm>
            <a:off x="720000" y="285005"/>
            <a:ext cx="7704000" cy="454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(Cont.)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BAB2-EFE2-7011-7529-F941454CAB7B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F90D82-7425-4387-A3CD-AD143A2843D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822" y="805783"/>
            <a:ext cx="3638765" cy="3653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2475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E280ED-78E5-6132-8766-20A4F410C706}"/>
              </a:ext>
            </a:extLst>
          </p:cNvPr>
          <p:cNvSpPr txBox="1"/>
          <p:nvPr/>
        </p:nvSpPr>
        <p:spPr>
          <a:xfrm>
            <a:off x="338667" y="739140"/>
            <a:ext cx="4590235" cy="199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Inspiration Module: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Project (1:N): Projects are classified by their type (e.g., Residential vs. Commercial).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- Project (1:N): Specific Materials are linked to the Projects where they were utilized, allowing users to "Shop the Look."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6F9B435-B2B0-CCF3-5C64-FFA72115848D}"/>
              </a:ext>
            </a:extLst>
          </p:cNvPr>
          <p:cNvSpPr txBox="1">
            <a:spLocks/>
          </p:cNvSpPr>
          <p:nvPr/>
        </p:nvSpPr>
        <p:spPr>
          <a:xfrm>
            <a:off x="720000" y="285005"/>
            <a:ext cx="7704000" cy="454135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(Cont.)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3CD4E-2B71-CE12-B57E-546E8FCAFF85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FA647-4F41-4BAB-96A3-471BEE322F7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822" y="805783"/>
            <a:ext cx="3638765" cy="3653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746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CC54-C61F-3225-96E6-F13F38D0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BD86CC9-EEF7-6549-9312-E67D358D211F}"/>
              </a:ext>
            </a:extLst>
          </p:cNvPr>
          <p:cNvSpPr txBox="1">
            <a:spLocks/>
          </p:cNvSpPr>
          <p:nvPr/>
        </p:nvSpPr>
        <p:spPr>
          <a:xfrm>
            <a:off x="720000" y="285005"/>
            <a:ext cx="7704000" cy="45413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Quality Assurance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F0DE4-F663-FA1F-EF79-FB96E6E02DFB}"/>
              </a:ext>
            </a:extLst>
          </p:cNvPr>
          <p:cNvSpPr txBox="1"/>
          <p:nvPr/>
        </p:nvSpPr>
        <p:spPr>
          <a:xfrm>
            <a:off x="293511" y="845820"/>
            <a:ext cx="8098059" cy="29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Quality Management Process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Validation: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database schema (ER Diagram) and architecture (Clean Architecture) correctness before implementation.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Monitoring: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Actively identified and fixed logic errors (payment failures, cart synchronization) during development.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Quality: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TypeScript standards, React best practices,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architectural patterns for clean, maintainable code.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Reviews: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code reviews to catch logical errors and ensure consistency.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page load times and API response times to meet performance benchmarks.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FDE61-AA25-3509-A2FB-45AAC9BD02F6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904519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D9B9-F6F4-4519-BCA4-366AB351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F47F52-F7D1-BB21-58E4-85E9D35449AD}"/>
              </a:ext>
            </a:extLst>
          </p:cNvPr>
          <p:cNvSpPr txBox="1">
            <a:spLocks/>
          </p:cNvSpPr>
          <p:nvPr/>
        </p:nvSpPr>
        <p:spPr>
          <a:xfrm>
            <a:off x="720000" y="368825"/>
            <a:ext cx="7704000" cy="45413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791569-26CD-AD5E-A8A9-4A64E5606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943313"/>
              </p:ext>
            </p:extLst>
          </p:nvPr>
        </p:nvGraphicFramePr>
        <p:xfrm>
          <a:off x="973410" y="1010811"/>
          <a:ext cx="7197180" cy="2350471"/>
        </p:xfrm>
        <a:graphic>
          <a:graphicData uri="http://schemas.openxmlformats.org/drawingml/2006/table">
            <a:tbl>
              <a:tblPr>
                <a:tableStyleId>{E8D2490D-5C05-42BE-8C55-A3A80E69C988}</a:tableStyleId>
              </a:tblPr>
              <a:tblGrid>
                <a:gridCol w="2155875">
                  <a:extLst>
                    <a:ext uri="{9D8B030D-6E8A-4147-A177-3AD203B41FA5}">
                      <a16:colId xmlns:a16="http://schemas.microsoft.com/office/drawing/2014/main" val="1782230505"/>
                    </a:ext>
                  </a:extLst>
                </a:gridCol>
                <a:gridCol w="5041305">
                  <a:extLst>
                    <a:ext uri="{9D8B030D-6E8A-4147-A177-3AD203B41FA5}">
                      <a16:colId xmlns:a16="http://schemas.microsoft.com/office/drawing/2014/main" val="57693363"/>
                    </a:ext>
                  </a:extLst>
                </a:gridCol>
              </a:tblGrid>
              <a:tr h="3584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Scenario 1: User Registration</a:t>
                      </a:r>
                    </a:p>
                  </a:txBody>
                  <a:tcPr marL="42882" marR="42882" marT="21441" marB="21441" anchor="ctr"/>
                </a:tc>
                <a:tc hMerge="1">
                  <a:txBody>
                    <a:bodyPr/>
                    <a:lstStyle/>
                    <a:p>
                      <a:pPr algn="just" fontAlgn="b">
                        <a:buNone/>
                      </a:pPr>
                      <a:endParaRPr lang="en-GB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b"/>
                </a:tc>
                <a:extLst>
                  <a:ext uri="{0D108BD9-81ED-4DB2-BD59-A6C34878D82A}">
                    <a16:rowId xmlns:a16="http://schemas.microsoft.com/office/drawing/2014/main" val="2955580890"/>
                  </a:ext>
                </a:extLst>
              </a:tr>
              <a:tr h="358438"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Scenario:</a:t>
                      </a:r>
                    </a:p>
                  </a:txBody>
                  <a:tcPr marL="42882" marR="42882" marT="21441" marB="21441" anchor="ctr"/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TC1: User registers with a valid email</a:t>
                      </a:r>
                    </a:p>
                  </a:txBody>
                  <a:tcPr marL="42882" marR="42882" marT="21441" marB="21441" anchor="ctr"/>
                </a:tc>
                <a:extLst>
                  <a:ext uri="{0D108BD9-81ED-4DB2-BD59-A6C34878D82A}">
                    <a16:rowId xmlns:a16="http://schemas.microsoft.com/office/drawing/2014/main" val="1375807354"/>
                  </a:ext>
                </a:extLst>
              </a:tr>
              <a:tr h="383053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Inputs: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Name, Email, Password → Click Submit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ctr"/>
                </a:tc>
                <a:extLst>
                  <a:ext uri="{0D108BD9-81ED-4DB2-BD59-A6C34878D82A}">
                    <a16:rowId xmlns:a16="http://schemas.microsoft.com/office/drawing/2014/main" val="3978168462"/>
                  </a:ext>
                </a:extLst>
              </a:tr>
              <a:tr h="474416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Desired Output’s: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account created, redirected to login page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ctr"/>
                </a:tc>
                <a:extLst>
                  <a:ext uri="{0D108BD9-81ED-4DB2-BD59-A6C34878D82A}">
                    <a16:rowId xmlns:a16="http://schemas.microsoft.com/office/drawing/2014/main" val="3438535656"/>
                  </a:ext>
                </a:extLst>
              </a:tr>
              <a:tr h="417688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Output’s: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record inserted, user redirected successfully</a:t>
                      </a: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ctr"/>
                </a:tc>
                <a:extLst>
                  <a:ext uri="{0D108BD9-81ED-4DB2-BD59-A6C34878D82A}">
                    <a16:rowId xmlns:a16="http://schemas.microsoft.com/office/drawing/2014/main" val="3711729070"/>
                  </a:ext>
                </a:extLst>
              </a:tr>
              <a:tr h="358438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Verdict: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2882" marR="42882" marT="21441" marB="21441" anchor="ctr"/>
                </a:tc>
                <a:extLst>
                  <a:ext uri="{0D108BD9-81ED-4DB2-BD59-A6C34878D82A}">
                    <a16:rowId xmlns:a16="http://schemas.microsoft.com/office/drawing/2014/main" val="42430030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C5551F2-723B-01C9-A0D6-F1BC6D0186F0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19816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C6ACF-4D4D-B249-C339-019CF447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689909-A635-363E-5E5A-B36AE7A758CD}"/>
              </a:ext>
            </a:extLst>
          </p:cNvPr>
          <p:cNvSpPr txBox="1">
            <a:spLocks/>
          </p:cNvSpPr>
          <p:nvPr/>
        </p:nvSpPr>
        <p:spPr>
          <a:xfrm>
            <a:off x="720000" y="368825"/>
            <a:ext cx="7704000" cy="45413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(Cont.)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F6D0C2-E905-C95F-733B-DA7857AB0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343289"/>
              </p:ext>
            </p:extLst>
          </p:nvPr>
        </p:nvGraphicFramePr>
        <p:xfrm>
          <a:off x="973410" y="1010811"/>
          <a:ext cx="7197180" cy="2497227"/>
        </p:xfrm>
        <a:graphic>
          <a:graphicData uri="http://schemas.openxmlformats.org/drawingml/2006/table">
            <a:tbl>
              <a:tblPr>
                <a:tableStyleId>{E8D2490D-5C05-42BE-8C55-A3A80E69C988}</a:tableStyleId>
              </a:tblPr>
              <a:tblGrid>
                <a:gridCol w="2155875">
                  <a:extLst>
                    <a:ext uri="{9D8B030D-6E8A-4147-A177-3AD203B41FA5}">
                      <a16:colId xmlns:a16="http://schemas.microsoft.com/office/drawing/2014/main" val="1782230505"/>
                    </a:ext>
                  </a:extLst>
                </a:gridCol>
                <a:gridCol w="5041305">
                  <a:extLst>
                    <a:ext uri="{9D8B030D-6E8A-4147-A177-3AD203B41FA5}">
                      <a16:colId xmlns:a16="http://schemas.microsoft.com/office/drawing/2014/main" val="57693363"/>
                    </a:ext>
                  </a:extLst>
                </a:gridCol>
              </a:tblGrid>
              <a:tr h="35843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Testing Scenario 2: Product Browsing</a:t>
                      </a:r>
                    </a:p>
                  </a:txBody>
                  <a:tcPr marL="42882" marR="42882" marT="21441" marB="21441" anchor="ctr"/>
                </a:tc>
                <a:tc hMerge="1">
                  <a:txBody>
                    <a:bodyPr/>
                    <a:lstStyle/>
                    <a:p>
                      <a:pPr algn="just" fontAlgn="b">
                        <a:buNone/>
                      </a:pPr>
                      <a:endParaRPr lang="en-GB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b"/>
                </a:tc>
                <a:extLst>
                  <a:ext uri="{0D108BD9-81ED-4DB2-BD59-A6C34878D82A}">
                    <a16:rowId xmlns:a16="http://schemas.microsoft.com/office/drawing/2014/main" val="2955580890"/>
                  </a:ext>
                </a:extLst>
              </a:tr>
              <a:tr h="358438"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GB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TC4: 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browses and filters products</a:t>
                      </a:r>
                      <a:endParaRPr lang="en-GB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807354"/>
                  </a:ext>
                </a:extLst>
              </a:tr>
              <a:tr h="543073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Inputs: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Navigate to Products → Select Category (Tiles) → Apply Brand Filter</a:t>
                      </a:r>
                      <a:endParaRPr lang="en-GB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16846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Desired Output’s: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Filtered products displayed.</a:t>
                      </a:r>
                      <a:endParaRPr lang="en-GB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53565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Output’s: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grid displays correctly with applied filters</a:t>
                      </a:r>
                      <a:endParaRPr lang="en-GB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729070"/>
                  </a:ext>
                </a:extLst>
              </a:tr>
              <a:tr h="358438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Verdict: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GB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r>
                        <a:rPr lang="en-GB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0030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B0038DC-76F3-7326-7D1A-2DDBD91D0DF4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611959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F28D-4427-C8AF-AE66-D1037690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E2AC1E-F52C-B840-9F5F-E1834DD81DEB}"/>
              </a:ext>
            </a:extLst>
          </p:cNvPr>
          <p:cNvSpPr txBox="1">
            <a:spLocks/>
          </p:cNvSpPr>
          <p:nvPr/>
        </p:nvSpPr>
        <p:spPr>
          <a:xfrm>
            <a:off x="720000" y="368825"/>
            <a:ext cx="7704000" cy="45413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(Cont.)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17615A-8FA9-7953-0491-0A17A2DCB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409945"/>
              </p:ext>
            </p:extLst>
          </p:nvPr>
        </p:nvGraphicFramePr>
        <p:xfrm>
          <a:off x="973410" y="1010811"/>
          <a:ext cx="7197180" cy="2989987"/>
        </p:xfrm>
        <a:graphic>
          <a:graphicData uri="http://schemas.openxmlformats.org/drawingml/2006/table">
            <a:tbl>
              <a:tblPr>
                <a:tableStyleId>{E8D2490D-5C05-42BE-8C55-A3A80E69C988}</a:tableStyleId>
              </a:tblPr>
              <a:tblGrid>
                <a:gridCol w="2155875">
                  <a:extLst>
                    <a:ext uri="{9D8B030D-6E8A-4147-A177-3AD203B41FA5}">
                      <a16:colId xmlns:a16="http://schemas.microsoft.com/office/drawing/2014/main" val="1782230505"/>
                    </a:ext>
                  </a:extLst>
                </a:gridCol>
                <a:gridCol w="5041305">
                  <a:extLst>
                    <a:ext uri="{9D8B030D-6E8A-4147-A177-3AD203B41FA5}">
                      <a16:colId xmlns:a16="http://schemas.microsoft.com/office/drawing/2014/main" val="57693363"/>
                    </a:ext>
                  </a:extLst>
                </a:gridCol>
              </a:tblGrid>
              <a:tr h="35843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Testing Scenario 3: Processing payment for order</a:t>
                      </a:r>
                    </a:p>
                  </a:txBody>
                  <a:tcPr marL="42882" marR="42882" marT="21441" marB="21441" anchor="ctr"/>
                </a:tc>
                <a:tc hMerge="1">
                  <a:txBody>
                    <a:bodyPr/>
                    <a:lstStyle/>
                    <a:p>
                      <a:pPr algn="just" fontAlgn="b">
                        <a:buNone/>
                      </a:pPr>
                      <a:endParaRPr lang="en-GB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82" marR="42882" marT="21441" marB="21441" anchor="b"/>
                </a:tc>
                <a:extLst>
                  <a:ext uri="{0D108BD9-81ED-4DB2-BD59-A6C34878D82A}">
                    <a16:rowId xmlns:a16="http://schemas.microsoft.com/office/drawing/2014/main" val="2955580890"/>
                  </a:ext>
                </a:extLst>
              </a:tr>
              <a:tr h="358438"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Scenario: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GB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TC5: Processing payment for confirmed booking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75807354"/>
                  </a:ext>
                </a:extLst>
              </a:tr>
              <a:tr h="626893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Inputs: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GB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Click “Checkout Button" → Enter </a:t>
                      </a:r>
                      <a:r>
                        <a:rPr lang="en-GB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SSLCommerz</a:t>
                      </a:r>
                      <a:r>
                        <a:rPr lang="en-GB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Sandbox Card Details → Submit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16846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Desired Output’s: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successful, validation ID stored, order status updates to "PAID"</a:t>
                      </a:r>
                      <a:endParaRPr lang="en-GB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53565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Output’s: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successful, validation ID stored in Payment table, order marked "PAID"</a:t>
                      </a:r>
                      <a:endParaRPr lang="en-GB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729070"/>
                  </a:ext>
                </a:extLst>
              </a:tr>
              <a:tr h="358438"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Verdict: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fontAlgn="base">
                        <a:buNone/>
                      </a:pPr>
                      <a:r>
                        <a:rPr lang="en-GB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r>
                        <a:rPr lang="en-GB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0030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3D27B8-3601-7F7A-C033-DE6FA5A3F54E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446878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27986-1466-EAE4-46A0-2BA91AB2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2A8B60-09C2-0BF8-A7C2-EE923FB654AD}"/>
              </a:ext>
            </a:extLst>
          </p:cNvPr>
          <p:cNvSpPr txBox="1">
            <a:spLocks/>
          </p:cNvSpPr>
          <p:nvPr/>
        </p:nvSpPr>
        <p:spPr>
          <a:xfrm>
            <a:off x="720000" y="368825"/>
            <a:ext cx="7704000" cy="45413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2B082A-D9BC-F270-075A-B82A327E1EE1}"/>
              </a:ext>
            </a:extLst>
          </p:cNvPr>
          <p:cNvSpPr txBox="1"/>
          <p:nvPr/>
        </p:nvSpPr>
        <p:spPr>
          <a:xfrm>
            <a:off x="338667" y="822960"/>
            <a:ext cx="7858548" cy="39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encryption using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HTTPS/TLS for data transmission</a:t>
            </a:r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data collection for order fulfillment</a:t>
            </a:r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Fairness: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neutrality: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ranked by relevance, not manipulation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pricing and accurate product information</a:t>
            </a:r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Inclusivity: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accessible to all users regardless of location or device</a:t>
            </a:r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Security: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PCI-DSS compliance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local storage of sensitive payment data</a:t>
            </a:r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FBDBB-E8E0-B42F-024B-722C79305B3C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392600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6AC81-7524-D994-0DC5-3316E24B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CD3FC8-4873-396A-82C6-D0962E93E7D9}"/>
              </a:ext>
            </a:extLst>
          </p:cNvPr>
          <p:cNvSpPr txBox="1">
            <a:spLocks/>
          </p:cNvSpPr>
          <p:nvPr/>
        </p:nvSpPr>
        <p:spPr>
          <a:xfrm>
            <a:off x="2131207" y="1569435"/>
            <a:ext cx="4881585" cy="2004630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Answer Session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9FC1B9-F038-7011-CDC7-B5C1E3A36A91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291423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ED01-63D7-7A6F-560C-C96EFD62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CA2DFE2-EA7F-4B6B-56E9-B46C99266E7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45413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the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49606-3265-0046-FC7B-07F727C6E3DA}"/>
              </a:ext>
            </a:extLst>
          </p:cNvPr>
          <p:cNvSpPr txBox="1"/>
          <p:nvPr/>
        </p:nvSpPr>
        <p:spPr>
          <a:xfrm>
            <a:off x="946785" y="1196340"/>
            <a:ext cx="7250430" cy="16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 internet connection (no offline mode)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Environment: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operates 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Sandbox mode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Features: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native mobile app features (push notifications)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Support: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live chat for customer support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Single-Vendor Constraint: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single vendor, not multi-vendor marketplace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E7A8A6-C565-2845-D70E-5E07AD4F158C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57190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0A8C-CD08-661A-56B2-C7D9B9E2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C64DE1-1627-B5FC-1EB8-5D872EE4578C}"/>
              </a:ext>
            </a:extLst>
          </p:cNvPr>
          <p:cNvSpPr txBox="1">
            <a:spLocks/>
          </p:cNvSpPr>
          <p:nvPr/>
        </p:nvSpPr>
        <p:spPr>
          <a:xfrm>
            <a:off x="720000" y="422165"/>
            <a:ext cx="7704000" cy="45413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E3455-1A86-05B9-0A3E-B2066CC8BAF9}"/>
              </a:ext>
            </a:extLst>
          </p:cNvPr>
          <p:cNvSpPr txBox="1"/>
          <p:nvPr/>
        </p:nvSpPr>
        <p:spPr>
          <a:xfrm>
            <a:off x="348473" y="1090671"/>
            <a:ext cx="8377837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Auraluxe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functional, secure e-commerce platform for premium building materials with: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Architecture implementation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SSLCommerz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integration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product and order management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Mobile App: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React Native for push notifications and offline features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WebSocket integration.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Multi-Warehouse Support: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inventory across multiple locations</a:t>
            </a:r>
          </a:p>
          <a:p>
            <a:pPr marL="2857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product recommendations and dynamic shipping calculations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C9C6BB-1ADA-48C5-074A-0EEEE44E04D1}"/>
              </a:ext>
            </a:extLst>
          </p:cNvPr>
          <p:cNvSpPr txBox="1"/>
          <p:nvPr/>
        </p:nvSpPr>
        <p:spPr>
          <a:xfrm>
            <a:off x="8453062" y="4557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175999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D95ACB-4327-3D68-B303-DD5DE18A55AD}"/>
              </a:ext>
            </a:extLst>
          </p:cNvPr>
          <p:cNvSpPr txBox="1"/>
          <p:nvPr/>
        </p:nvSpPr>
        <p:spPr>
          <a:xfrm>
            <a:off x="2708329" y="1417588"/>
            <a:ext cx="37273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41081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</TotalTime>
  <Words>3085</Words>
  <Application>Microsoft Office PowerPoint</Application>
  <PresentationFormat>On-screen Show (16:9)</PresentationFormat>
  <Paragraphs>451</Paragraphs>
  <Slides>53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Figtree Black</vt:lpstr>
      <vt:lpstr>Wingdings</vt:lpstr>
      <vt:lpstr>Arial Narrow</vt:lpstr>
      <vt:lpstr>Times New Roman</vt:lpstr>
      <vt:lpstr>Cambria Math</vt:lpstr>
      <vt:lpstr>Arial</vt:lpstr>
      <vt:lpstr>Algerian</vt:lpstr>
      <vt:lpstr>Hanken Grotesk</vt:lpstr>
      <vt:lpstr>Elegant Black &amp; White Thesis Defense by Slidesgo</vt:lpstr>
      <vt:lpstr>Auraluxe: A Single Vendor E commerce Application for Luxury Building Materials </vt:lpstr>
      <vt:lpstr>Table of contents</vt:lpstr>
      <vt:lpstr>Table of contents (Cont.)</vt:lpstr>
      <vt:lpstr>Organization Overview</vt:lpstr>
      <vt:lpstr>Project Introduction</vt:lpstr>
      <vt:lpstr>Objectives of this Project</vt:lpstr>
      <vt:lpstr>Process Model</vt:lpstr>
      <vt:lpstr>Feasibility Study</vt:lpstr>
      <vt:lpstr>Requirement Engineering</vt:lpstr>
      <vt:lpstr>User Requirements</vt:lpstr>
      <vt:lpstr>User Requirements (Cont.)</vt:lpstr>
      <vt:lpstr>System Requirements</vt:lpstr>
      <vt:lpstr>Functional Requirements</vt:lpstr>
      <vt:lpstr>Functional Requirements(cont.)</vt:lpstr>
      <vt:lpstr>Non-Functional Requirements</vt:lpstr>
      <vt:lpstr>Non-Functional Requirements(cont.)</vt:lpstr>
      <vt:lpstr>Use Case Diagram</vt:lpstr>
      <vt:lpstr>Software Analysis Pattern</vt:lpstr>
      <vt:lpstr>Activity Diagrams</vt:lpstr>
      <vt:lpstr>Activity Diagrams (Cont.)</vt:lpstr>
      <vt:lpstr>Swim-lane Diagrams</vt:lpstr>
      <vt:lpstr>Swim-lane Diagrams (Cont.)</vt:lpstr>
      <vt:lpstr>Sequence Diagrams</vt:lpstr>
      <vt:lpstr>Sequence Diagrams (Cont.)</vt:lpstr>
      <vt:lpstr>Sequence Diagrams (Cont.)</vt:lpstr>
      <vt:lpstr>Class Diagram</vt:lpstr>
      <vt:lpstr>Class Diagram(cont.)</vt:lpstr>
      <vt:lpstr>Risk Management: Technical Risk</vt:lpstr>
      <vt:lpstr>Risk Management:Technical Risk</vt:lpstr>
      <vt:lpstr>Risk Management:Technical Risk</vt:lpstr>
      <vt:lpstr>PowerPoint Presentation</vt:lpstr>
      <vt:lpstr>Function Point Analysis</vt:lpstr>
      <vt:lpstr>Function Point Calculation</vt:lpstr>
      <vt:lpstr>Task Scheduling</vt:lpstr>
      <vt:lpstr>Task Scheduling(cont.)</vt:lpstr>
      <vt:lpstr>Data Flow Diagram</vt:lpstr>
      <vt:lpstr>Data Flow Diagram (Cont.)</vt:lpstr>
      <vt:lpstr>Data Flow Diagram (Cont.)</vt:lpstr>
      <vt:lpstr>Data Flow Diagram (Cont.)</vt:lpstr>
      <vt:lpstr>Data Flow Diagram (Cont.)</vt:lpstr>
      <vt:lpstr>ER Diagram</vt:lpstr>
      <vt:lpstr>ER Diagram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Deep Learning Framework for Mental Health Analysis from Social  Media Posts</dc:title>
  <dc:creator>Abdullah Al Mamun</dc:creator>
  <cp:lastModifiedBy>billal</cp:lastModifiedBy>
  <cp:revision>341</cp:revision>
  <dcterms:modified xsi:type="dcterms:W3CDTF">2026-01-24T12:33:06Z</dcterms:modified>
</cp:coreProperties>
</file>